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164592"/>
            <a:ext cx="4480560" cy="4480560"/>
          </a:xfrm>
          <a:prstGeom prst="arc">
            <a:avLst/>
          </a:prstGeom>
          <a:solidFill>
            <a:srgbClr val="EEF4F1">
              <a:alpha val="0"/>
            </a:srgbClr>
          </a:solidFill>
          <a:ln w="228600">
            <a:solidFill>
              <a:srgbClr val="B8DDD0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93268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AWS SERVERLESS ERP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94944" y="1371600"/>
            <a:ext cx="6583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採購、收料與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異常處置平台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以 AWS Serverless 建立可追溯、可驗證、具 AI 輔助操作邊界的 ERP 收料模組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675888"/>
            <a:ext cx="1755648" cy="274320"/>
          </a:xfrm>
          <a:prstGeom prst="roundRect">
            <a:avLst>
              <a:gd name="adj" fmla="val 40000"/>
            </a:avLst>
          </a:prstGeom>
          <a:solidFill>
            <a:srgbClr val="DFF3EC"/>
          </a:solidFill>
          <a:ln w="12700">
            <a:solidFill>
              <a:srgbClr val="DFF3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749040"/>
            <a:ext cx="1755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B8A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Production-ready design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2633472" y="3675888"/>
            <a:ext cx="1325880" cy="274320"/>
          </a:xfrm>
          <a:prstGeom prst="roundRect">
            <a:avLst>
              <a:gd name="adj" fmla="val 40000"/>
            </a:avLst>
          </a:prstGeom>
          <a:solidFill>
            <a:srgbClr val="FFF1DF"/>
          </a:solidFill>
          <a:ln w="12700">
            <a:solidFill>
              <a:srgbClr val="FFF1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33472" y="374904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C76F2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ap-northeast-1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7818120" y="1325880"/>
            <a:ext cx="3429000" cy="356616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B8DD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17190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專案亮點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56448" y="2286000"/>
            <a:ext cx="100584" cy="100584"/>
          </a:xfrm>
          <a:prstGeom prst="ellipse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2240280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PO 驗收與部分收料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8156448" y="2715768"/>
            <a:ext cx="100584" cy="100584"/>
          </a:xfrm>
          <a:prstGeom prst="ellipse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2670048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異常處置與隔離庫存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8156448" y="3145536"/>
            <a:ext cx="100584" cy="100584"/>
          </a:xfrm>
          <a:prstGeom prst="ellipse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6760" y="3099816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DynamoDB 原子交易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8156448" y="3575304"/>
            <a:ext cx="100584" cy="100584"/>
          </a:xfrm>
          <a:prstGeom prst="ellipse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3529584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Cognito RBAC 與 MCP approval gate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8156448" y="4005072"/>
            <a:ext cx="100584" cy="100584"/>
          </a:xfrm>
          <a:prstGeom prst="ellipse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66760" y="3959352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Outbox 警示重試與 Excel 匯入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731520" y="614476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完整專案簡報 ·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spc="120" kern="0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AWS SERVERLESS ERP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585216" y="530352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簡報導覽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由業務問題出發，依序說明流程、操作、架構、一致性、安全性與後續規劃。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36576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13232" y="1508760"/>
            <a:ext cx="507492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" y="1755648"/>
            <a:ext cx="347472" cy="347472"/>
          </a:xfrm>
          <a:prstGeom prst="ellipse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1865376"/>
            <a:ext cx="1920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01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554480" y="18013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業務痛點與專案目標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45352" y="1508760"/>
            <a:ext cx="507492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01384" y="1755648"/>
            <a:ext cx="347472" cy="347472"/>
          </a:xfrm>
          <a:prstGeom prst="ellipse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74536" y="1865376"/>
            <a:ext cx="1920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02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7086600" y="18013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PO 收料與異常處置流程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3232" y="2862072"/>
            <a:ext cx="507492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9264" y="3108960"/>
            <a:ext cx="347472" cy="347472"/>
          </a:xfrm>
          <a:prstGeom prst="ellipse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2416" y="3218688"/>
            <a:ext cx="1920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03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554480" y="31546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ERP 作業台與 Demo 操作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45352" y="2862072"/>
            <a:ext cx="507492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01384" y="3108960"/>
            <a:ext cx="347472" cy="347472"/>
          </a:xfrm>
          <a:prstGeom prst="ellipse">
            <a:avLst/>
          </a:prstGeom>
          <a:solidFill>
            <a:srgbClr val="1B8A61"/>
          </a:solidFill>
          <a:ln w="12700">
            <a:solidFill>
              <a:srgbClr val="1B8A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74536" y="3218688"/>
            <a:ext cx="1920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04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7086600" y="31546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AWS 架構、資料流與可用服務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13232" y="4215384"/>
            <a:ext cx="507492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9264" y="4462272"/>
            <a:ext cx="347472" cy="347472"/>
          </a:xfrm>
          <a:prstGeom prst="ellipse">
            <a:avLst/>
          </a:prstGeom>
          <a:solidFill>
            <a:srgbClr val="1B8A61"/>
          </a:solidFill>
          <a:ln w="12700">
            <a:solidFill>
              <a:srgbClr val="1B8A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2416" y="4572000"/>
            <a:ext cx="1920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05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1554480" y="45079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資料一致性、權限與 AI/MCP 安全邊界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45352" y="4215384"/>
            <a:ext cx="507492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01384" y="4462272"/>
            <a:ext cx="347472" cy="347472"/>
          </a:xfrm>
          <a:prstGeom prst="ellipse">
            <a:avLst/>
          </a:prstGeom>
          <a:solidFill>
            <a:srgbClr val="1B8A61"/>
          </a:solidFill>
          <a:ln w="12700">
            <a:solidFill>
              <a:srgbClr val="1B8A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74536" y="4572000"/>
            <a:ext cx="1920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06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7086600" y="45079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測試、成本控制與 Roadmap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5216" y="6437376"/>
            <a:ext cx="10991088" cy="0"/>
          </a:xfrm>
          <a:prstGeom prst="line">
            <a:avLst/>
          </a:prstGeom>
          <a:noFill/>
          <a:ln w="8890">
            <a:solidFill>
              <a:srgbClr val="D7E5D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6547104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Portfolio Project · FastAPI · AWS Lambda · DynamoDB · Terraform</a:t>
            </a:r>
            <a:endParaRPr lang="en-US" sz="7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spc="120" kern="0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AWS SERVERLESS ERP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585216" y="530352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為什麼需要這個 ERP 模組？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收料不是單純將數量加到庫存；它牽涉採購履約、例外處置、庫存可用性與責任歸屬。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36576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517904"/>
            <a:ext cx="50749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517904"/>
            <a:ext cx="91440" cy="1417320"/>
          </a:xfrm>
          <a:prstGeom prst="rect">
            <a:avLst/>
          </a:prstGeom>
          <a:solidFill>
            <a:srgbClr val="C76F22"/>
          </a:solidFill>
          <a:ln w="12700">
            <a:solidFill>
              <a:srgbClr val="C76F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18013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C76F2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部分到貨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78408" y="2267712"/>
            <a:ext cx="43159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PO 100 件、實收 80 件；未到的 20 件如何追蹤與結案？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90488" y="1517904"/>
            <a:ext cx="50749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90488" y="1517904"/>
            <a:ext cx="91440" cy="1417320"/>
          </a:xfrm>
          <a:prstGeom prst="rect">
            <a:avLst/>
          </a:prstGeom>
          <a:solidFill>
            <a:srgbClr val="C44743"/>
          </a:solidFill>
          <a:ln w="12700">
            <a:solidFill>
              <a:srgbClr val="C447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0528" y="18013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C4474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超收與品質風險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10528" y="2267712"/>
            <a:ext cx="43159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超過 PO 或未確認品質的貨物，不能直接成為可用庫存。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8368" y="3392424"/>
            <a:ext cx="50749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3392424"/>
            <a:ext cx="91440" cy="1417320"/>
          </a:xfrm>
          <a:prstGeom prst="rect">
            <a:avLst/>
          </a:prstGeom>
          <a:solidFill>
            <a:srgbClr val="C44743"/>
          </a:solidFill>
          <a:ln w="12700">
            <a:solidFill>
              <a:srgbClr val="C447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36758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C4474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重試與併發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78408" y="4142232"/>
            <a:ext cx="43159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網路逾時、重送或多人操作，不能造成重複入帳。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90488" y="3392424"/>
            <a:ext cx="50749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0488" y="3392424"/>
            <a:ext cx="91440" cy="1417320"/>
          </a:xfrm>
          <a:prstGeom prst="rect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0528" y="36758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稽核與責任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10528" y="4142232"/>
            <a:ext cx="43159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異常要留下處置人、理由、時間與核准差異。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76656" y="5559552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7584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設計原則：每一筆庫存變化都要能回答「誰、何時、為何、由哪張文件造成」。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85216" y="6437376"/>
            <a:ext cx="10991088" cy="0"/>
          </a:xfrm>
          <a:prstGeom prst="line">
            <a:avLst/>
          </a:prstGeom>
          <a:noFill/>
          <a:ln w="8890">
            <a:solidFill>
              <a:srgbClr val="D7E5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547104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Portfolio Project · FastAPI · AWS Lambda · DynamoDB · Terraform</a:t>
            </a:r>
            <a:endParaRPr lang="en-US" sz="7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spc="120" kern="0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AWS SERVERLESS ERP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585216" y="530352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專案定位與範圍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以採購收料與例外管理為核心，將範圍收斂成可實際部署與展示的 ERP 子系統。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36576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21792" y="1536192"/>
            <a:ext cx="3456432" cy="3977640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536192"/>
            <a:ext cx="3456432" cy="100584"/>
          </a:xfrm>
          <a:prstGeom prst="rect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9202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已完成的核心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96112" y="2587752"/>
            <a:ext cx="100584" cy="100584"/>
          </a:xfrm>
          <a:prstGeom prst="ellipse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6424" y="2542032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採購單建立與料號一致性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896112" y="3017520"/>
            <a:ext cx="100584" cy="100584"/>
          </a:xfrm>
          <a:prstGeom prst="ellipse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6424" y="2971800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正常 / 部分 / 超收收料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896112" y="3447288"/>
            <a:ext cx="100584" cy="100584"/>
          </a:xfrm>
          <a:prstGeom prst="ellipse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06424" y="3401568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補貨、差異允收、庫存調整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896112" y="3877056"/>
            <a:ext cx="100584" cy="100584"/>
          </a:xfrm>
          <a:prstGeom prst="ellipse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6424" y="3831336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帳本、警示、匯入與 UI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443984" y="1536192"/>
            <a:ext cx="3456432" cy="3977640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43984" y="1536192"/>
            <a:ext cx="3456432" cy="100584"/>
          </a:xfrm>
          <a:prstGeom prst="rect">
            <a:avLst/>
          </a:prstGeom>
          <a:solidFill>
            <a:srgbClr val="1B8A61"/>
          </a:solidFill>
          <a:ln w="12700">
            <a:solidFill>
              <a:srgbClr val="1B8A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19202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8A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架構能力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718304" y="2587752"/>
            <a:ext cx="100584" cy="100584"/>
          </a:xfrm>
          <a:prstGeom prst="ellipse">
            <a:avLst/>
          </a:prstGeom>
          <a:solidFill>
            <a:srgbClr val="1B8A61"/>
          </a:solidFill>
          <a:ln w="12700">
            <a:solidFill>
              <a:srgbClr val="1B8A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28616" y="2542032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API Gateway + Lambda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4718304" y="3017520"/>
            <a:ext cx="100584" cy="100584"/>
          </a:xfrm>
          <a:prstGeom prst="ellipse">
            <a:avLst/>
          </a:prstGeom>
          <a:solidFill>
            <a:srgbClr val="1B8A61"/>
          </a:solidFill>
          <a:ln w="12700">
            <a:solidFill>
              <a:srgbClr val="1B8A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28616" y="2971800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DynamoDB transaction + TTL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4718304" y="3447288"/>
            <a:ext cx="100584" cy="100584"/>
          </a:xfrm>
          <a:prstGeom prst="ellipse">
            <a:avLst/>
          </a:prstGeom>
          <a:solidFill>
            <a:srgbClr val="1B8A61"/>
          </a:solidFill>
          <a:ln w="12700">
            <a:solidFill>
              <a:srgbClr val="1B8A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28616" y="3401568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Cognito JWT/RBAC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4718304" y="3877056"/>
            <a:ext cx="100584" cy="100584"/>
          </a:xfrm>
          <a:prstGeom prst="ellipse">
            <a:avLst/>
          </a:prstGeom>
          <a:solidFill>
            <a:srgbClr val="1B8A61"/>
          </a:solidFill>
          <a:ln w="12700">
            <a:solidFill>
              <a:srgbClr val="1B8A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28616" y="3831336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SNS + EventBridge outbox retry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8266176" y="1536192"/>
            <a:ext cx="3456432" cy="3977640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66176" y="1536192"/>
            <a:ext cx="3456432" cy="100584"/>
          </a:xfrm>
          <a:prstGeom prst="rect">
            <a:avLst/>
          </a:prstGeom>
          <a:solidFill>
            <a:srgbClr val="C76F22"/>
          </a:solidFill>
          <a:ln w="12700">
            <a:solidFill>
              <a:srgbClr val="C76F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31352" y="19202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C76F2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下一階段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540496" y="2587752"/>
            <a:ext cx="100584" cy="100584"/>
          </a:xfrm>
          <a:prstGeom prst="ellipse">
            <a:avLst/>
          </a:prstGeom>
          <a:solidFill>
            <a:srgbClr val="C76F22"/>
          </a:solidFill>
          <a:ln w="12700">
            <a:solidFill>
              <a:srgbClr val="C76F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50808" y="2542032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品質檢驗與退貨流程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8540496" y="3017520"/>
            <a:ext cx="100584" cy="100584"/>
          </a:xfrm>
          <a:prstGeom prst="ellipse">
            <a:avLst/>
          </a:prstGeom>
          <a:solidFill>
            <a:srgbClr val="C76F22"/>
          </a:solidFill>
          <a:ln w="12700">
            <a:solidFill>
              <a:srgbClr val="C76F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50808" y="2971800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GRN / Invoice 三方匹配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8540496" y="3447288"/>
            <a:ext cx="100584" cy="100584"/>
          </a:xfrm>
          <a:prstGeom prst="ellipse">
            <a:avLst/>
          </a:prstGeom>
          <a:solidFill>
            <a:srgbClr val="C76F22"/>
          </a:solidFill>
          <a:ln w="12700">
            <a:solidFill>
              <a:srgbClr val="C76F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50808" y="3401568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供應商主檔與價格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8540496" y="3877056"/>
            <a:ext cx="100584" cy="100584"/>
          </a:xfrm>
          <a:prstGeom prst="ellipse">
            <a:avLst/>
          </a:prstGeom>
          <a:solidFill>
            <a:srgbClr val="C76F22"/>
          </a:solidFill>
          <a:ln w="12700">
            <a:solidFill>
              <a:srgbClr val="C76F2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750808" y="3831336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正式自訂網域與前端 CDN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585216" y="6437376"/>
            <a:ext cx="10991088" cy="0"/>
          </a:xfrm>
          <a:prstGeom prst="line">
            <a:avLst/>
          </a:prstGeom>
          <a:noFill/>
          <a:ln w="8890">
            <a:solidFill>
              <a:srgbClr val="D7E5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" y="6547104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Portfolio Project · FastAPI · AWS Lambda · DynamoDB · Terraform</a:t>
            </a:r>
            <a:endParaRPr lang="en-US" sz="71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spc="120" kern="0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AWS SERVERLESS ERP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585216" y="530352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端到端 PO 驗收流程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系統將採購單、收料、可用 / 隔離庫存、異常處置和帳本連成可控閉環。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36576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12648" y="1691640"/>
            <a:ext cx="149047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3970">
            <a:solidFill>
              <a:srgbClr val="087F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938528"/>
            <a:ext cx="1307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建立 PO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194560" y="1947672"/>
            <a:ext cx="320040" cy="182880"/>
          </a:xfrm>
          <a:prstGeom prst="chevron">
            <a:avLst/>
          </a:prstGeom>
          <a:solidFill>
            <a:srgbClr val="D7E5DF"/>
          </a:solidFill>
          <a:ln w="12700">
            <a:solidFill>
              <a:srgbClr val="D7E5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87168" y="1691640"/>
            <a:ext cx="149047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3970">
            <a:solidFill>
              <a:srgbClr val="087F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78608" y="1938528"/>
            <a:ext cx="1307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待驗收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069080" y="1947672"/>
            <a:ext cx="320040" cy="182880"/>
          </a:xfrm>
          <a:prstGeom prst="chevron">
            <a:avLst/>
          </a:prstGeom>
          <a:solidFill>
            <a:srgbClr val="D7E5DF"/>
          </a:solidFill>
          <a:ln w="12700">
            <a:solidFill>
              <a:srgbClr val="D7E5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61688" y="1691640"/>
            <a:ext cx="149047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3970">
            <a:solidFill>
              <a:srgbClr val="1B8A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53128" y="1938528"/>
            <a:ext cx="1307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8A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到貨收料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0" y="1947672"/>
            <a:ext cx="320040" cy="182880"/>
          </a:xfrm>
          <a:prstGeom prst="chevron">
            <a:avLst/>
          </a:prstGeom>
          <a:solidFill>
            <a:srgbClr val="D7E5DF"/>
          </a:solidFill>
          <a:ln w="12700">
            <a:solidFill>
              <a:srgbClr val="D7E5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36208" y="1691640"/>
            <a:ext cx="149047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3970">
            <a:solidFill>
              <a:srgbClr val="1B8A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7648" y="1938528"/>
            <a:ext cx="1307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8A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比對數量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818120" y="1947672"/>
            <a:ext cx="320040" cy="182880"/>
          </a:xfrm>
          <a:prstGeom prst="chevron">
            <a:avLst/>
          </a:prstGeom>
          <a:solidFill>
            <a:srgbClr val="D7E5DF"/>
          </a:solidFill>
          <a:ln w="12700">
            <a:solidFill>
              <a:srgbClr val="D7E5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10728" y="1691640"/>
            <a:ext cx="1490472" cy="658368"/>
          </a:xfrm>
          <a:prstGeom prst="roundRect">
            <a:avLst>
              <a:gd name="adj" fmla="val 8333"/>
            </a:avLst>
          </a:prstGeom>
          <a:solidFill>
            <a:srgbClr val="FFF1DF"/>
          </a:solidFill>
          <a:ln w="13970">
            <a:solidFill>
              <a:srgbClr val="C76F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02168" y="1938528"/>
            <a:ext cx="1307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76F2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完成 / 異常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692640" y="1947672"/>
            <a:ext cx="320040" cy="182880"/>
          </a:xfrm>
          <a:prstGeom prst="chevron">
            <a:avLst/>
          </a:prstGeom>
          <a:solidFill>
            <a:srgbClr val="D7E5DF"/>
          </a:solidFill>
          <a:ln w="12700">
            <a:solidFill>
              <a:srgbClr val="D7E5D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85248" y="1691640"/>
            <a:ext cx="149047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3970">
            <a:solidFill>
              <a:srgbClr val="0758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76688" y="1938528"/>
            <a:ext cx="1307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584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帳本與通知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1792" y="3182112"/>
            <a:ext cx="3429000" cy="1901952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824" y="3474720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8A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全數收料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77824" y="3840480"/>
            <a:ext cx="2377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實收 = 訂購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77824" y="42519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PO -&gt; 已完成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可用庫存增加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建立 Receipt + Ledger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4416552" y="3182112"/>
            <a:ext cx="3429000" cy="1901952"/>
          </a:xfrm>
          <a:prstGeom prst="roundRect">
            <a:avLst>
              <a:gd name="adj" fmla="val 2885"/>
            </a:avLst>
          </a:prstGeom>
          <a:solidFill>
            <a:srgbClr val="FFF9F0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72584" y="3474720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76F2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部分收料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672584" y="3840480"/>
            <a:ext cx="2377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實收 &lt; 訂購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72584" y="42519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PO -&gt; 待處理異常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庫存增加已收量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保留剩餘待收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8211312" y="3182112"/>
            <a:ext cx="3429000" cy="1901952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67344" y="3474720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4474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超收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467344" y="3840480"/>
            <a:ext cx="2377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實收 &gt; 訂購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467344" y="42519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PO -&gt; 待處理異常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超收量進隔離庫存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須核准後才可用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585216" y="6437376"/>
            <a:ext cx="10991088" cy="0"/>
          </a:xfrm>
          <a:prstGeom prst="line">
            <a:avLst/>
          </a:prstGeom>
          <a:noFill/>
          <a:ln w="8890">
            <a:solidFill>
              <a:srgbClr val="D7E5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6547104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Portfolio Project · FastAPI · AWS Lambda · DynamoDB · Terraform</a:t>
            </a:r>
            <a:endParaRPr lang="en-US" sz="7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spc="120" kern="0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AWS SERVERLESS ERP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585216" y="530352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PO 狀態機：異常不是終態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使用受控狀態轉移，防止已結案 PO 被再次收料。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36576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965960"/>
            <a:ext cx="1645920" cy="612648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3970">
            <a:solidFill>
              <a:srgbClr val="087F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94560"/>
            <a:ext cx="1463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待驗收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26080" y="1965960"/>
            <a:ext cx="1645920" cy="612648"/>
          </a:xfrm>
          <a:prstGeom prst="roundRect">
            <a:avLst>
              <a:gd name="adj" fmla="val 8955"/>
            </a:avLst>
          </a:prstGeom>
          <a:solidFill>
            <a:srgbClr val="FFF1DF"/>
          </a:solidFill>
          <a:ln w="13970">
            <a:solidFill>
              <a:srgbClr val="C76F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2194560"/>
            <a:ext cx="1463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6F2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待處理異常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94960" y="3566160"/>
            <a:ext cx="1645920" cy="612648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3970">
            <a:solidFill>
              <a:srgbClr val="087F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0" y="3794760"/>
            <a:ext cx="1463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待補貨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321040" y="3566160"/>
            <a:ext cx="1645920" cy="612648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3970">
            <a:solidFill>
              <a:srgbClr val="1B8A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3794760"/>
            <a:ext cx="1463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8A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差異結案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372600" y="1965960"/>
            <a:ext cx="1645920" cy="612648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3970">
            <a:solidFill>
              <a:srgbClr val="1B8A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64040" y="2194560"/>
            <a:ext cx="1463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8A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已完成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50592" y="2185416"/>
            <a:ext cx="292608" cy="182880"/>
          </a:xfrm>
          <a:prstGeom prst="chevron">
            <a:avLst/>
          </a:prstGeom>
          <a:solidFill>
            <a:srgbClr val="D7E5DF"/>
          </a:solidFill>
          <a:ln w="12700">
            <a:solidFill>
              <a:srgbClr val="D7E5D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2606040"/>
            <a:ext cx="292608" cy="182880"/>
          </a:xfrm>
          <a:prstGeom prst="chevron">
            <a:avLst/>
          </a:prstGeom>
          <a:solidFill>
            <a:srgbClr val="D7E5DF"/>
          </a:solidFill>
          <a:ln w="12700">
            <a:solidFill>
              <a:srgbClr val="D7E5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90688" y="3794760"/>
            <a:ext cx="292608" cy="182880"/>
          </a:xfrm>
          <a:prstGeom prst="chevron">
            <a:avLst/>
          </a:prstGeom>
          <a:solidFill>
            <a:srgbClr val="D7E5DF"/>
          </a:solidFill>
          <a:ln w="12700">
            <a:solidFill>
              <a:srgbClr val="D7E5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88552" y="2606040"/>
            <a:ext cx="292608" cy="182880"/>
          </a:xfrm>
          <a:prstGeom prst="chevron">
            <a:avLst/>
          </a:prstGeom>
          <a:solidFill>
            <a:srgbClr val="D7E5DF"/>
          </a:solidFill>
          <a:ln w="12700">
            <a:solidFill>
              <a:srgbClr val="D7E5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1499616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全數收料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337560" y="1499616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部分收料 / 超收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468112" y="3108960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補貨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492240" y="3822192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差異允收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49808" y="4617720"/>
            <a:ext cx="10515600" cy="658368"/>
          </a:xfrm>
          <a:prstGeom prst="roundRect">
            <a:avLst>
              <a:gd name="adj" fmla="val 8333"/>
            </a:avLst>
          </a:prstGeom>
          <a:solidFill>
            <a:srgbClr val="DFF3EC"/>
          </a:solidFill>
          <a:ln w="8890">
            <a:solidFill>
              <a:srgbClr val="B9DE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4855464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7584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規則：只有「待驗收」與「待補貨」可收料；「已完成」與「差異結案」不可再次寫入庫存。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85216" y="6437376"/>
            <a:ext cx="10991088" cy="0"/>
          </a:xfrm>
          <a:prstGeom prst="line">
            <a:avLst/>
          </a:prstGeom>
          <a:noFill/>
          <a:ln w="8890">
            <a:solidFill>
              <a:srgbClr val="D7E5D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6547104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Portfolio Project · FastAPI · AWS Lambda · DynamoDB · Terraform</a:t>
            </a:r>
            <a:endParaRPr lang="en-US" sz="7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spc="120" kern="0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AWS SERVERLESS ERP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585216" y="530352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ERP 作業台：將日常操作集中在同一個畫面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UI 以角色、工作佇列、篩選與可追溯性為中心，並非單純展示 KPI。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36576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21792" y="1389888"/>
            <a:ext cx="6903720" cy="4800600"/>
          </a:xfrm>
          <a:prstGeom prst="roundRect">
            <a:avLst>
              <a:gd name="adj" fmla="val 1143"/>
            </a:avLst>
          </a:prstGeom>
          <a:solidFill>
            <a:srgbClr val="F8FAF8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66420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採購與庫存作業台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971032" y="1691640"/>
            <a:ext cx="987552" cy="274320"/>
          </a:xfrm>
          <a:prstGeom prst="roundRect">
            <a:avLst>
              <a:gd name="adj" fmla="val 40000"/>
            </a:avLst>
          </a:prstGeom>
          <a:solidFill>
            <a:srgbClr val="DFF3EC"/>
          </a:solidFill>
          <a:ln w="12700">
            <a:solidFill>
              <a:srgbClr val="DFF3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71032" y="1764792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warehouse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896112" y="2148840"/>
            <a:ext cx="169164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2295144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採購單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993392" y="23134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862072" y="2148840"/>
            <a:ext cx="169164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53512" y="2295144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待驗收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3959352" y="23134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28032" y="2148840"/>
            <a:ext cx="169164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2295144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完成收料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5925312" y="23134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96112" y="2953512"/>
            <a:ext cx="169164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3099816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異常紀錄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993392" y="31181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4474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862072" y="2953512"/>
            <a:ext cx="169164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53512" y="3099816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低庫存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3959352" y="31181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28032" y="2953512"/>
            <a:ext cx="169164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3099816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隔離量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5925312" y="31181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96112" y="402336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採購單工作佇列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14400" y="4389120"/>
            <a:ext cx="5806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PO-2026-002   東亞電子材料   已完成   200 / 200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914400" y="4727448"/>
            <a:ext cx="5806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C76F2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DEMO-...       Demo 供應商    待處理異常   80 / 100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896112" y="523036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庫存稽核帳本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14400" y="5605272"/>
            <a:ext cx="5989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DEMO-MAT-... · 收料 · PO-... · warehouse                                      +80</a:t>
            </a:r>
            <a:endParaRPr lang="en-US" sz="760" dirty="0"/>
          </a:p>
        </p:txBody>
      </p:sp>
      <p:sp>
        <p:nvSpPr>
          <p:cNvPr id="34" name="Shape 32"/>
          <p:cNvSpPr/>
          <p:nvPr/>
        </p:nvSpPr>
        <p:spPr>
          <a:xfrm>
            <a:off x="7818120" y="1417320"/>
            <a:ext cx="3584448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0" y="1581912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登入驗證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509760" y="1591056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Cognito ID Token 與角色提示</a:t>
            </a:r>
            <a:endParaRPr lang="en-US" sz="760" dirty="0"/>
          </a:p>
        </p:txBody>
      </p:sp>
      <p:sp>
        <p:nvSpPr>
          <p:cNvPr id="37" name="Shape 35"/>
          <p:cNvSpPr/>
          <p:nvPr/>
        </p:nvSpPr>
        <p:spPr>
          <a:xfrm>
            <a:off x="7818120" y="2322576"/>
            <a:ext cx="3584448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46720" y="2487168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建立採購單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509760" y="249631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purchaser 角色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7818120" y="3227832"/>
            <a:ext cx="3584448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0" y="3392424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到貨驗收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509760" y="3401568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warehouse 角色 + Idempotency-Key</a:t>
            </a:r>
            <a:endParaRPr lang="en-US" sz="760" dirty="0"/>
          </a:p>
        </p:txBody>
      </p:sp>
      <p:sp>
        <p:nvSpPr>
          <p:cNvPr id="43" name="Shape 41"/>
          <p:cNvSpPr/>
          <p:nvPr/>
        </p:nvSpPr>
        <p:spPr>
          <a:xfrm>
            <a:off x="7818120" y="4133088"/>
            <a:ext cx="3584448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46720" y="4297680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異常處置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509760" y="4306824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approver 角色</a:t>
            </a:r>
            <a:endParaRPr lang="en-US" sz="760" dirty="0"/>
          </a:p>
        </p:txBody>
      </p:sp>
      <p:sp>
        <p:nvSpPr>
          <p:cNvPr id="46" name="Shape 44"/>
          <p:cNvSpPr/>
          <p:nvPr/>
        </p:nvSpPr>
        <p:spPr>
          <a:xfrm>
            <a:off x="7818120" y="5038344"/>
            <a:ext cx="3584448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046720" y="5202936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Excel 匯入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509760" y="5212080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S3 預簽名 URL + SQS worker</a:t>
            </a:r>
            <a:endParaRPr lang="en-US" sz="760" dirty="0"/>
          </a:p>
        </p:txBody>
      </p:sp>
      <p:sp>
        <p:nvSpPr>
          <p:cNvPr id="49" name="Shape 47"/>
          <p:cNvSpPr/>
          <p:nvPr/>
        </p:nvSpPr>
        <p:spPr>
          <a:xfrm>
            <a:off x="585216" y="6437376"/>
            <a:ext cx="10991088" cy="0"/>
          </a:xfrm>
          <a:prstGeom prst="line">
            <a:avLst/>
          </a:prstGeom>
          <a:noFill/>
          <a:ln w="8890">
            <a:solidFill>
              <a:srgbClr val="D7E5D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4360" y="6547104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Portfolio Project · FastAPI · AWS Lambda · DynamoDB · Terraform</a:t>
            </a:r>
            <a:endParaRPr lang="en-US" sz="71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spc="120" kern="0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AWS SERVERLESS ERP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585216" y="530352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角色與權限：每個動作都有責任邊界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Cognito JWT 提供身分與角色，API Gateway 與 FastAPI role guard 雙層確認。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36576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508760"/>
            <a:ext cx="507492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1856232"/>
            <a:ext cx="1097280" cy="274320"/>
          </a:xfrm>
          <a:prstGeom prst="roundRect">
            <a:avLst>
              <a:gd name="adj" fmla="val 40000"/>
            </a:avLst>
          </a:prstGeom>
          <a:solidFill>
            <a:srgbClr val="DFF3EC"/>
          </a:solidFill>
          <a:ln w="12700">
            <a:solidFill>
              <a:srgbClr val="DFF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92938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warehouse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2331720" y="19019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收料、查看 PO / 庫存 / 帳本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72200" y="1508760"/>
            <a:ext cx="507492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1856232"/>
            <a:ext cx="1097280" cy="274320"/>
          </a:xfrm>
          <a:prstGeom prst="roundRect">
            <a:avLst>
              <a:gd name="adj" fmla="val 40000"/>
            </a:avLst>
          </a:prstGeom>
          <a:solidFill>
            <a:srgbClr val="DFF3EC"/>
          </a:solidFill>
          <a:ln w="12700">
            <a:solidFill>
              <a:srgbClr val="DFF3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92938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B8A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purchaser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7863840" y="19019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建立 PO、Excel 匯入、查看營運資料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971800"/>
            <a:ext cx="507492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3319272"/>
            <a:ext cx="1097280" cy="274320"/>
          </a:xfrm>
          <a:prstGeom prst="roundRect">
            <a:avLst>
              <a:gd name="adj" fmla="val 40000"/>
            </a:avLst>
          </a:prstGeom>
          <a:solidFill>
            <a:srgbClr val="FFF1DF"/>
          </a:solidFill>
          <a:ln w="12700">
            <a:solidFill>
              <a:srgbClr val="FFF1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39242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C76F2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approver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2331720" y="336499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差異允收、補貨處置、退貨 / 報廢 / 盤點調整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72200" y="2971800"/>
            <a:ext cx="507492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3319272"/>
            <a:ext cx="1097280" cy="274320"/>
          </a:xfrm>
          <a:prstGeom prst="roundRect">
            <a:avLst>
              <a:gd name="adj" fmla="val 40000"/>
            </a:avLst>
          </a:prstGeom>
          <a:solidFill>
            <a:srgbClr val="DFF3EC"/>
          </a:solidFill>
          <a:ln w="12700">
            <a:solidFill>
              <a:srgbClr val="DFF3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339242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7584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admin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7863840" y="336499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可執行所有 ERP 操作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4892040"/>
            <a:ext cx="10607040" cy="594360"/>
          </a:xfrm>
          <a:prstGeom prst="roundRect">
            <a:avLst>
              <a:gd name="adj" fmla="val 9231"/>
            </a:avLst>
          </a:prstGeom>
          <a:solidFill>
            <a:srgbClr val="FCE8E5"/>
          </a:solidFill>
          <a:ln w="8890">
            <a:solidFill>
              <a:srgbClr val="E8BBB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5102352"/>
            <a:ext cx="10012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C4474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安全原則：前端送來的 received_by / resolved_by 不可信；後端以 JWT subject 覆寫後才寫入稽核紀錄。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585216" y="6437376"/>
            <a:ext cx="10991088" cy="0"/>
          </a:xfrm>
          <a:prstGeom prst="line">
            <a:avLst/>
          </a:prstGeom>
          <a:noFill/>
          <a:ln w="8890">
            <a:solidFill>
              <a:srgbClr val="D7E5D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6547104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Portfolio Project · FastAPI · AWS Lambda · DynamoDB · Terraform</a:t>
            </a:r>
            <a:endParaRPr lang="en-US" sz="71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spc="120" kern="0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AWS SERVERLESS ERP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585216" y="530352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核心 AWS Serverless 架構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以 HTTP API、無伺服器運算、NoSQL 交易與事件通知支援 ERP 操作。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36576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920240"/>
            <a:ext cx="14630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3970">
            <a:solidFill>
              <a:srgbClr val="0758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212848"/>
            <a:ext cx="13167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7584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Browser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731520" y="2487168"/>
            <a:ext cx="1316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ERP 作業台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2212848" y="2331720"/>
            <a:ext cx="201168" cy="182880"/>
          </a:xfrm>
          <a:prstGeom prst="chevron">
            <a:avLst/>
          </a:prstGeom>
          <a:solidFill>
            <a:srgbClr val="D7E5DF"/>
          </a:solidFill>
          <a:ln w="12700">
            <a:solidFill>
              <a:srgbClr val="D7E5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96312" y="1920240"/>
            <a:ext cx="16916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3970">
            <a:solidFill>
              <a:srgbClr val="087F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9464" y="2212848"/>
            <a:ext cx="15453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API Gateway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2569464" y="2487168"/>
            <a:ext cx="15453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JWT / throttling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4279392" y="2331720"/>
            <a:ext cx="201168" cy="182880"/>
          </a:xfrm>
          <a:prstGeom prst="chevron">
            <a:avLst/>
          </a:prstGeom>
          <a:solidFill>
            <a:srgbClr val="D7E5DF"/>
          </a:solidFill>
          <a:ln w="12700">
            <a:solidFill>
              <a:srgbClr val="D7E5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08576" y="1920240"/>
            <a:ext cx="16459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3970">
            <a:solidFill>
              <a:srgbClr val="1B8A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2212848"/>
            <a:ext cx="14996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B8A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Lambda API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4681728" y="2487168"/>
            <a:ext cx="14996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FastAPI + Mangum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6345936" y="2331720"/>
            <a:ext cx="201168" cy="182880"/>
          </a:xfrm>
          <a:prstGeom prst="chevron">
            <a:avLst/>
          </a:prstGeom>
          <a:solidFill>
            <a:srgbClr val="D7E5DF"/>
          </a:solidFill>
          <a:ln w="12700">
            <a:solidFill>
              <a:srgbClr val="D7E5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47688" y="1920240"/>
            <a:ext cx="16002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3970">
            <a:solidFill>
              <a:srgbClr val="087F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0840" y="2212848"/>
            <a:ext cx="1453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DynamoDB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6720840" y="2487168"/>
            <a:ext cx="1453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主交易資料表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8339328" y="2331720"/>
            <a:ext cx="201168" cy="182880"/>
          </a:xfrm>
          <a:prstGeom prst="chevron">
            <a:avLst/>
          </a:prstGeom>
          <a:solidFill>
            <a:srgbClr val="D7E5DF"/>
          </a:solidFill>
          <a:ln w="12700">
            <a:solidFill>
              <a:srgbClr val="D7E5D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22792" y="1920240"/>
            <a:ext cx="13258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3970">
            <a:solidFill>
              <a:srgbClr val="C76F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95944" y="2212848"/>
            <a:ext cx="11795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C76F2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SNS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8695944" y="2487168"/>
            <a:ext cx="11795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營運警示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10040112" y="2331720"/>
            <a:ext cx="201168" cy="182880"/>
          </a:xfrm>
          <a:prstGeom prst="chevron">
            <a:avLst/>
          </a:prstGeom>
          <a:solidFill>
            <a:srgbClr val="D7E5DF"/>
          </a:solidFill>
          <a:ln w="12700">
            <a:solidFill>
              <a:srgbClr val="D7E5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296144" y="1920240"/>
            <a:ext cx="13258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3970">
            <a:solidFill>
              <a:srgbClr val="0758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369296" y="2212848"/>
            <a:ext cx="11795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7584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CloudWatch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10369296" y="2487168"/>
            <a:ext cx="11795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日誌 / Alarm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914400" y="3785616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同步交易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267712" y="3785616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Receipt、PO、Inventory、Ledger、Idempotency 與 Alert batch 一次寫入。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914400" y="440740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可選防護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267712" y="4407408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DynamoDB PITR、KMS encryption、API access log、CloudWatch alarm、刪除保護。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914400" y="5029200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部署方式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267712" y="5029200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Terraform 管理基礎設施；Lambda ZIP 避免 ECR 成本與維護負擔。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585216" y="6437376"/>
            <a:ext cx="10991088" cy="0"/>
          </a:xfrm>
          <a:prstGeom prst="line">
            <a:avLst/>
          </a:prstGeom>
          <a:noFill/>
          <a:ln w="8890">
            <a:solidFill>
              <a:srgbClr val="D7E5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6547104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Portfolio Project · FastAPI · AWS Lambda · DynamoDB · Terraform</a:t>
            </a:r>
            <a:endParaRPr lang="en-US" sz="71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spc="120" kern="0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AWS SERVERLESS ERP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585216" y="530352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可靠通知：Transactional Outbox + EventBridge Retry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資料先成功入帳；通知失敗不能讓使用者誤以為收料失敗，也不能讓警示遺失。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36576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874520"/>
            <a:ext cx="178308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03704"/>
            <a:ext cx="1536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收料 API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68096" y="248716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DynamoDB Transaction</a:t>
            </a:r>
            <a:endParaRPr lang="en-US" sz="740" dirty="0"/>
          </a:p>
        </p:txBody>
      </p:sp>
      <p:sp>
        <p:nvSpPr>
          <p:cNvPr id="10" name="Shape 8"/>
          <p:cNvSpPr/>
          <p:nvPr/>
        </p:nvSpPr>
        <p:spPr>
          <a:xfrm>
            <a:off x="2560320" y="2340864"/>
            <a:ext cx="228600" cy="182880"/>
          </a:xfrm>
          <a:prstGeom prst="chevron">
            <a:avLst/>
          </a:prstGeom>
          <a:solidFill>
            <a:srgbClr val="D7E5DF"/>
          </a:solidFill>
          <a:ln w="12700">
            <a:solidFill>
              <a:srgbClr val="D7E5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1874520"/>
            <a:ext cx="178308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C76F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44952" y="2203704"/>
            <a:ext cx="1536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6F2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Alert Batch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35808" y="248716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pending 狀態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4828032" y="2340864"/>
            <a:ext cx="228600" cy="182880"/>
          </a:xfrm>
          <a:prstGeom prst="chevron">
            <a:avLst/>
          </a:prstGeom>
          <a:solidFill>
            <a:srgbClr val="D7E5DF"/>
          </a:solidFill>
          <a:ln w="12700">
            <a:solidFill>
              <a:srgbClr val="D7E5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93792" y="1874520"/>
            <a:ext cx="178308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12664" y="2203704"/>
            <a:ext cx="1536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EventBridge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03520" y="248716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每分鐘觸發 worker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7095744" y="2340864"/>
            <a:ext cx="228600" cy="182880"/>
          </a:xfrm>
          <a:prstGeom prst="chevron">
            <a:avLst/>
          </a:prstGeom>
          <a:solidFill>
            <a:srgbClr val="D7E5DF"/>
          </a:solidFill>
          <a:ln w="12700">
            <a:solidFill>
              <a:srgbClr val="D7E5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61504" y="1874520"/>
            <a:ext cx="178308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0376" y="2203704"/>
            <a:ext cx="1536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Alert Worker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571232" y="248716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claim lease / publish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9363456" y="2340864"/>
            <a:ext cx="228600" cy="182880"/>
          </a:xfrm>
          <a:prstGeom prst="chevron">
            <a:avLst/>
          </a:prstGeom>
          <a:solidFill>
            <a:srgbClr val="D7E5DF"/>
          </a:solidFill>
          <a:ln w="12700">
            <a:solidFill>
              <a:srgbClr val="D7E5D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729216" y="1874520"/>
            <a:ext cx="178308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48088" y="2203704"/>
            <a:ext cx="1536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838944" y="248716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Email / downstream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658368" y="3822192"/>
            <a:ext cx="50749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" y="4005072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8A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寫入成功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048256" y="3995928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交易回應成功；PO、庫存與帳本一致。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6190488" y="3822192"/>
            <a:ext cx="50749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91656" y="4005072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8A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發布成功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580376" y="3995928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worker 標記 batch published。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658368" y="4581144"/>
            <a:ext cx="5074920" cy="530352"/>
          </a:xfrm>
          <a:prstGeom prst="roundRect">
            <a:avLst>
              <a:gd name="adj" fmla="val 10345"/>
            </a:avLst>
          </a:prstGeom>
          <a:solidFill>
            <a:srgbClr val="FCE8E5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9536" y="4764024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C4474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發布失敗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048256" y="4754880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lease 釋放，下一輪 EventBridge 重試。</a:t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6190488" y="4581144"/>
            <a:ext cx="50749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91656" y="4764024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C76F2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投遞語意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580376" y="4754880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at-least-once；下游用 receipt_id + alert_type + material_id 去重。</a:t>
            </a:r>
            <a:endParaRPr lang="en-US" sz="830" dirty="0"/>
          </a:p>
        </p:txBody>
      </p:sp>
      <p:sp>
        <p:nvSpPr>
          <p:cNvPr id="38" name="Shape 36"/>
          <p:cNvSpPr/>
          <p:nvPr/>
        </p:nvSpPr>
        <p:spPr>
          <a:xfrm>
            <a:off x="585216" y="6437376"/>
            <a:ext cx="10991088" cy="0"/>
          </a:xfrm>
          <a:prstGeom prst="line">
            <a:avLst/>
          </a:prstGeom>
          <a:noFill/>
          <a:ln w="8890">
            <a:solidFill>
              <a:srgbClr val="D7E5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6547104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Portfolio Project · FastAPI · AWS Lambda · DynamoDB · Terraform</a:t>
            </a:r>
            <a:endParaRPr lang="en-US" sz="71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spc="120" kern="0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AWS SERVERLESS ERP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585216" y="530352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資料模型：庫存餘額與不可變帳本並存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餘額用於快速作業；交易帳本用於追溯、稽核和問題排查。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36576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481328"/>
            <a:ext cx="343814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481328"/>
            <a:ext cx="73152" cy="1188720"/>
          </a:xfrm>
          <a:prstGeom prst="rect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7282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PurchaseOrder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77824" y="21396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PO 狀態、訂購量、已收量、處置資料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443984" y="1481328"/>
            <a:ext cx="343814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43984" y="1481328"/>
            <a:ext cx="73152" cy="1188720"/>
          </a:xfrm>
          <a:prstGeom prst="rect">
            <a:avLst/>
          </a:prstGeom>
          <a:solidFill>
            <a:srgbClr val="1B8A61"/>
          </a:solidFill>
          <a:ln w="12700">
            <a:solidFill>
              <a:srgbClr val="1B8A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81728" y="17282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8A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Receipt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81728" y="21396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每次實收與收料異常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8247888" y="1481328"/>
            <a:ext cx="343814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47888" y="1481328"/>
            <a:ext cx="73152" cy="1188720"/>
          </a:xfrm>
          <a:prstGeom prst="rect">
            <a:avLst/>
          </a:prstGeom>
          <a:solidFill>
            <a:srgbClr val="07584F"/>
          </a:solidFill>
          <a:ln w="12700">
            <a:solidFill>
              <a:srgbClr val="0758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85632" y="17282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7584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Inventory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85632" y="21396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可用量、隔離量、安全庫存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640080" y="3172968"/>
            <a:ext cx="343814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172968"/>
            <a:ext cx="73152" cy="1188720"/>
          </a:xfrm>
          <a:prstGeom prst="rect">
            <a:avLst/>
          </a:prstGeom>
          <a:solidFill>
            <a:srgbClr val="C76F22"/>
          </a:solidFill>
          <a:ln w="12700">
            <a:solidFill>
              <a:srgbClr val="C76F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" y="341985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C76F2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InventoryTransaction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77824" y="383133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+/- 異動、來源、操作者、時間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4443984" y="3172968"/>
            <a:ext cx="343814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43984" y="3172968"/>
            <a:ext cx="73152" cy="1188720"/>
          </a:xfrm>
          <a:prstGeom prst="rect">
            <a:avLst/>
          </a:prstGeom>
          <a:solidFill>
            <a:srgbClr val="C44743"/>
          </a:solidFill>
          <a:ln w="12700">
            <a:solidFill>
              <a:srgbClr val="C447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1728" y="341985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C4474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Idempotency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81728" y="383133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請求 hash 與 90 天 TTL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8247888" y="3172968"/>
            <a:ext cx="343814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47888" y="3172968"/>
            <a:ext cx="73152" cy="1188720"/>
          </a:xfrm>
          <a:prstGeom prst="rect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85632" y="341985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AlertBatch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485632" y="383133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pending / lease / published 與 30 天 TTL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640080" y="5047488"/>
            <a:ext cx="10972800" cy="502920"/>
          </a:xfrm>
          <a:prstGeom prst="roundRect">
            <a:avLst>
              <a:gd name="adj" fmla="val 10909"/>
            </a:avLst>
          </a:prstGeom>
          <a:solidFill>
            <a:srgbClr val="DFF3EC"/>
          </a:solidFill>
          <a:ln w="8890">
            <a:solidFill>
              <a:srgbClr val="B9DE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5230368"/>
            <a:ext cx="10241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7584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主鍵模式：單一 DynamoDB 表使用 PK / SK；EntityIndex 支援 entity / entity_key 查詢與 cursor 分頁。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585216" y="6437376"/>
            <a:ext cx="10991088" cy="0"/>
          </a:xfrm>
          <a:prstGeom prst="line">
            <a:avLst/>
          </a:prstGeom>
          <a:noFill/>
          <a:ln w="8890">
            <a:solidFill>
              <a:srgbClr val="D7E5D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6547104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Portfolio Project · FastAPI · AWS Lambda · DynamoDB · Terraform</a:t>
            </a:r>
            <a:endParaRPr lang="en-US" sz="71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spc="120" kern="0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AWS SERVERLESS ERP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585216" y="530352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資料一致性與防呆控制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把 ERP 規則放在 domain 與交易層，而不是只靠 UI 限制。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36576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50749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5256" y="1783080"/>
            <a:ext cx="228600" cy="228600"/>
          </a:xfrm>
          <a:prstGeom prst="ellipse">
            <a:avLst/>
          </a:prstGeom>
          <a:solidFill>
            <a:srgbClr val="1B8A61"/>
          </a:solidFill>
          <a:ln w="12700">
            <a:solidFill>
              <a:srgbClr val="1B8A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35024" y="1682496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Idempotency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35024" y="1993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相同 key + 相同 payload 回傳原結果；不同 payload 回 409。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172200" y="1463040"/>
            <a:ext cx="50749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37376" y="1783080"/>
            <a:ext cx="228600" cy="228600"/>
          </a:xfrm>
          <a:prstGeom prst="ellipse">
            <a:avLst/>
          </a:prstGeom>
          <a:solidFill>
            <a:srgbClr val="1B8A61"/>
          </a:solidFill>
          <a:ln w="12700">
            <a:solidFill>
              <a:srgbClr val="1B8A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67144" y="1682496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Optimistic locking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67144" y="1993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比較原 PO / Inventory 資料；併發異動衝突不會靜默覆寫。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0080" y="2761488"/>
            <a:ext cx="50749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5256" y="3081528"/>
            <a:ext cx="228600" cy="228600"/>
          </a:xfrm>
          <a:prstGeom prst="ellipse">
            <a:avLst/>
          </a:prstGeom>
          <a:solidFill>
            <a:srgbClr val="1B8A61"/>
          </a:solidFill>
          <a:ln w="12700">
            <a:solidFill>
              <a:srgbClr val="1B8A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35024" y="2980944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Transaction limit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35024" y="32918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PO / receipt 最多 48 項，符合 DynamoDB 100-item transaction 上限。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172200" y="2761488"/>
            <a:ext cx="50749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37376" y="3081528"/>
            <a:ext cx="228600" cy="228600"/>
          </a:xfrm>
          <a:prstGeom prst="ellipse">
            <a:avLst/>
          </a:prstGeom>
          <a:solidFill>
            <a:srgbClr val="1B8A61"/>
          </a:solidFill>
          <a:ln w="12700">
            <a:solidFill>
              <a:srgbClr val="1B8A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67144" y="2980944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Master consistency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67144" y="32918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同料號不可不同品名或單位；PO 內不得重複料號。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40080" y="4059936"/>
            <a:ext cx="50749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5256" y="4379976"/>
            <a:ext cx="228600" cy="228600"/>
          </a:xfrm>
          <a:prstGeom prst="ellipse">
            <a:avLst/>
          </a:prstGeom>
          <a:solidFill>
            <a:srgbClr val="1B8A61"/>
          </a:solidFill>
          <a:ln w="12700">
            <a:solidFill>
              <a:srgbClr val="1B8A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35024" y="4279392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Quantity guard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335024" y="459028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禁止全零收料、超過剩餘待收與未授權的庫存異動。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172200" y="4059936"/>
            <a:ext cx="50749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37376" y="4379976"/>
            <a:ext cx="228600" cy="228600"/>
          </a:xfrm>
          <a:prstGeom prst="ellipse">
            <a:avLst/>
          </a:prstGeom>
          <a:solidFill>
            <a:srgbClr val="1B8A61"/>
          </a:solidFill>
          <a:ln w="12700">
            <a:solidFill>
              <a:srgbClr val="1B8A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67144" y="4279392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Cursor scope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67144" y="459028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opaque cursor 綁定 status / material / supplier filter，避免跨查詢跳頁。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85216" y="6437376"/>
            <a:ext cx="10991088" cy="0"/>
          </a:xfrm>
          <a:prstGeom prst="line">
            <a:avLst/>
          </a:prstGeom>
          <a:noFill/>
          <a:ln w="8890">
            <a:solidFill>
              <a:srgbClr val="D7E5D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6547104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Portfolio Project · FastAPI · AWS Lambda · DynamoDB · Terraform</a:t>
            </a:r>
            <a:endParaRPr lang="en-US" sz="71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spc="120" kern="0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AWS SERVERLESS ERP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585216" y="530352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安全設計：從瀏覽器到資料庫的多層防護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將身份、授權、輸入驗證、服務權限和觀測性分層，而不是只依賴單一 API 防護。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36576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43000" y="1417320"/>
            <a:ext cx="9738360" cy="521208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1417320"/>
            <a:ext cx="109728" cy="521208"/>
          </a:xfrm>
          <a:prstGeom prst="rect">
            <a:avLst/>
          </a:prstGeom>
          <a:solidFill>
            <a:srgbClr val="07584F"/>
          </a:solidFill>
          <a:ln w="12700">
            <a:solidFill>
              <a:srgbClr val="0758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08760" y="1600200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7584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Browser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063240" y="1600200"/>
            <a:ext cx="5120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sessionStorage 保存 Cognito token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143000" y="2221992"/>
            <a:ext cx="9738360" cy="521208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3000" y="2221992"/>
            <a:ext cx="109728" cy="521208"/>
          </a:xfrm>
          <a:prstGeom prst="rect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08760" y="2404872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API Gateway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063240" y="2404872"/>
            <a:ext cx="5120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JWT authorizer、CORS、rate limit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143000" y="3026664"/>
            <a:ext cx="9738360" cy="521208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000" y="3026664"/>
            <a:ext cx="109728" cy="521208"/>
          </a:xfrm>
          <a:prstGeom prst="rect">
            <a:avLst/>
          </a:prstGeom>
          <a:solidFill>
            <a:srgbClr val="1B8A61"/>
          </a:solidFill>
          <a:ln w="12700">
            <a:solidFill>
              <a:srgbClr val="1B8A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08760" y="3209544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B8A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FastAPI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063240" y="3209544"/>
            <a:ext cx="5120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role guard、schema validation、request ID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143000" y="3831336"/>
            <a:ext cx="9738360" cy="521208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43000" y="3831336"/>
            <a:ext cx="109728" cy="521208"/>
          </a:xfrm>
          <a:prstGeom prst="rect">
            <a:avLst/>
          </a:prstGeom>
          <a:solidFill>
            <a:srgbClr val="C76F22"/>
          </a:solidFill>
          <a:ln w="12700">
            <a:solidFill>
              <a:srgbClr val="C76F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08760" y="4014216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C76F2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AWS IAM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063240" y="4014216"/>
            <a:ext cx="5120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Lambda least privilege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143000" y="4636008"/>
            <a:ext cx="9738360" cy="521208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43000" y="4636008"/>
            <a:ext cx="109728" cy="521208"/>
          </a:xfrm>
          <a:prstGeom prst="rect">
            <a:avLst/>
          </a:prstGeom>
          <a:solidFill>
            <a:srgbClr val="C44743"/>
          </a:solidFill>
          <a:ln w="12700">
            <a:solidFill>
              <a:srgbClr val="C447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08760" y="4818888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C4474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DynamoDB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063240" y="4818888"/>
            <a:ext cx="5120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KMS encryption、PITR、deletion protection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61288" y="5577840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C4474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Production precondition：erp_environment=production 時，Terraform 強制要求 api_auth_enabled=true 且 seed_demo=false。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585216" y="6437376"/>
            <a:ext cx="10991088" cy="0"/>
          </a:xfrm>
          <a:prstGeom prst="line">
            <a:avLst/>
          </a:prstGeom>
          <a:noFill/>
          <a:ln w="8890">
            <a:solidFill>
              <a:srgbClr val="D7E5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6547104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Portfolio Project · FastAPI · AWS Lambda · DynamoDB · Terraform</a:t>
            </a:r>
            <a:endParaRPr lang="en-US" sz="71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spc="120" kern="0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AWS SERVERLESS ERP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585216" y="530352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ERP MCP：讓 AI 協助查詢，但不繞過企業控制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MCP 是獨立 stdio adapter，不直接暴露在公開 API Gateway。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36576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13232" y="1901952"/>
            <a:ext cx="16916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758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212848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584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AI Client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04672" y="248716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Copilot / Claude / MCP client</a:t>
            </a:r>
            <a:endParaRPr lang="en-US" sz="710" dirty="0"/>
          </a:p>
        </p:txBody>
      </p:sp>
      <p:sp>
        <p:nvSpPr>
          <p:cNvPr id="10" name="Shape 8"/>
          <p:cNvSpPr/>
          <p:nvPr/>
        </p:nvSpPr>
        <p:spPr>
          <a:xfrm>
            <a:off x="2523744" y="2340864"/>
            <a:ext cx="256032" cy="182880"/>
          </a:xfrm>
          <a:prstGeom prst="chevron">
            <a:avLst/>
          </a:prstGeom>
          <a:solidFill>
            <a:srgbClr val="D7E5DF"/>
          </a:solidFill>
          <a:ln w="12700">
            <a:solidFill>
              <a:srgbClr val="D7E5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0360" y="1901952"/>
            <a:ext cx="16916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71800" y="2212848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MCP Server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71800" y="248716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FastMCP stdio adapter</a:t>
            </a:r>
            <a:endParaRPr lang="en-US" sz="710" dirty="0"/>
          </a:p>
        </p:txBody>
      </p:sp>
      <p:sp>
        <p:nvSpPr>
          <p:cNvPr id="14" name="Shape 12"/>
          <p:cNvSpPr/>
          <p:nvPr/>
        </p:nvSpPr>
        <p:spPr>
          <a:xfrm>
            <a:off x="4690872" y="2340864"/>
            <a:ext cx="256032" cy="182880"/>
          </a:xfrm>
          <a:prstGeom prst="chevron">
            <a:avLst/>
          </a:prstGeom>
          <a:solidFill>
            <a:srgbClr val="D7E5DF"/>
          </a:solidFill>
          <a:ln w="12700">
            <a:solidFill>
              <a:srgbClr val="D7E5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02352" y="1901952"/>
            <a:ext cx="16916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6F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93792" y="2212848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76F2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Approval Gate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193792" y="248716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approved=true + feature flag</a:t>
            </a:r>
            <a:endParaRPr lang="en-US" sz="710" dirty="0"/>
          </a:p>
        </p:txBody>
      </p:sp>
      <p:sp>
        <p:nvSpPr>
          <p:cNvPr id="18" name="Shape 16"/>
          <p:cNvSpPr/>
          <p:nvPr/>
        </p:nvSpPr>
        <p:spPr>
          <a:xfrm>
            <a:off x="6912864" y="2340864"/>
            <a:ext cx="256032" cy="182880"/>
          </a:xfrm>
          <a:prstGeom prst="chevron">
            <a:avLst/>
          </a:prstGeom>
          <a:solidFill>
            <a:srgbClr val="D7E5DF"/>
          </a:solidFill>
          <a:ln w="12700">
            <a:solidFill>
              <a:srgbClr val="D7E5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71232" y="1901952"/>
            <a:ext cx="16916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B8A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62672" y="2212848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8A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ERP Domain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662672" y="248716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同一套業務規則</a:t>
            </a:r>
            <a:endParaRPr lang="en-US" sz="710" dirty="0"/>
          </a:p>
        </p:txBody>
      </p:sp>
      <p:sp>
        <p:nvSpPr>
          <p:cNvPr id="22" name="Shape 20"/>
          <p:cNvSpPr/>
          <p:nvPr/>
        </p:nvSpPr>
        <p:spPr>
          <a:xfrm>
            <a:off x="9381744" y="2340864"/>
            <a:ext cx="256032" cy="182880"/>
          </a:xfrm>
          <a:prstGeom prst="chevron">
            <a:avLst/>
          </a:prstGeom>
          <a:solidFill>
            <a:srgbClr val="D7E5DF"/>
          </a:solidFill>
          <a:ln w="12700">
            <a:solidFill>
              <a:srgbClr val="D7E5D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784080" y="1901952"/>
            <a:ext cx="16916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0" y="2212848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DynamoDB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875520" y="248716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一致性資料層</a:t>
            </a:r>
            <a:endParaRPr lang="en-US" sz="710" dirty="0"/>
          </a:p>
        </p:txBody>
      </p:sp>
      <p:sp>
        <p:nvSpPr>
          <p:cNvPr id="26" name="Shape 24"/>
          <p:cNvSpPr/>
          <p:nvPr/>
        </p:nvSpPr>
        <p:spPr>
          <a:xfrm>
            <a:off x="713232" y="3977640"/>
            <a:ext cx="340156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1832" y="423367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唯讀工具（預設）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41832" y="4553712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dashboard、PO、庫存、庫存帳本查詢</a:t>
            </a:r>
            <a:endParaRPr lang="en-US" sz="810" dirty="0"/>
          </a:p>
        </p:txBody>
      </p:sp>
      <p:sp>
        <p:nvSpPr>
          <p:cNvPr id="29" name="Shape 27"/>
          <p:cNvSpPr/>
          <p:nvPr/>
        </p:nvSpPr>
        <p:spPr>
          <a:xfrm>
            <a:off x="4462272" y="3977640"/>
            <a:ext cx="340156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90872" y="423367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C76F2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變更工具（雙重閘門）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90872" y="4553712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建立 PO、收料、異常處置均需 approved=true 與 ERP_MCP_MUTATIONS_ENABLED=true</a:t>
            </a:r>
            <a:endParaRPr lang="en-US" sz="810" dirty="0"/>
          </a:p>
        </p:txBody>
      </p:sp>
      <p:sp>
        <p:nvSpPr>
          <p:cNvPr id="32" name="Shape 30"/>
          <p:cNvSpPr/>
          <p:nvPr/>
        </p:nvSpPr>
        <p:spPr>
          <a:xfrm>
            <a:off x="8211312" y="3977640"/>
            <a:ext cx="340156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39912" y="423367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安全價值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439912" y="4553712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AI 可整理與建議，但沒有明確人類核准時不會寫入 ERP 資料。</a:t>
            </a:r>
            <a:endParaRPr lang="en-US" sz="810" dirty="0"/>
          </a:p>
        </p:txBody>
      </p:sp>
      <p:sp>
        <p:nvSpPr>
          <p:cNvPr id="35" name="Shape 33"/>
          <p:cNvSpPr/>
          <p:nvPr/>
        </p:nvSpPr>
        <p:spPr>
          <a:xfrm>
            <a:off x="585216" y="6437376"/>
            <a:ext cx="10991088" cy="0"/>
          </a:xfrm>
          <a:prstGeom prst="line">
            <a:avLst/>
          </a:prstGeom>
          <a:noFill/>
          <a:ln w="8890">
            <a:solidFill>
              <a:srgbClr val="D7E5D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6547104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Portfolio Project · FastAPI · AWS Lambda · DynamoDB · Terraform</a:t>
            </a:r>
            <a:endParaRPr lang="en-US" sz="71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spc="120" kern="0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AWS SERVERLESS ERP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585216" y="530352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批次匯入：Excel → S3 → SQS → Lambda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大型或定期採購資料不直接塞進同步 API，改由可靠的非同步工作流處理。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36576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30352" y="1901952"/>
            <a:ext cx="1536192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0758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2212848"/>
            <a:ext cx="13898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584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Web UI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03504" y="2487168"/>
            <a:ext cx="1389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選取 XLSX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139696" y="2340864"/>
            <a:ext cx="182880" cy="182880"/>
          </a:xfrm>
          <a:prstGeom prst="chevron">
            <a:avLst/>
          </a:prstGeom>
          <a:solidFill>
            <a:srgbClr val="D7E5DF"/>
          </a:solidFill>
          <a:ln w="12700">
            <a:solidFill>
              <a:srgbClr val="D7E5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50592" y="1901952"/>
            <a:ext cx="1536192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23744" y="2212848"/>
            <a:ext cx="13898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Upload URL API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23744" y="2487168"/>
            <a:ext cx="1389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取得預簽名 URL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059936" y="2340864"/>
            <a:ext cx="182880" cy="182880"/>
          </a:xfrm>
          <a:prstGeom prst="chevron">
            <a:avLst/>
          </a:prstGeom>
          <a:solidFill>
            <a:srgbClr val="D7E5DF"/>
          </a:solidFill>
          <a:ln w="12700">
            <a:solidFill>
              <a:srgbClr val="D7E5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70832" y="1901952"/>
            <a:ext cx="1536192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1B8A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43984" y="2212848"/>
            <a:ext cx="13898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8A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Private S3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43984" y="2487168"/>
            <a:ext cx="1389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上傳來源檔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980176" y="2340864"/>
            <a:ext cx="182880" cy="182880"/>
          </a:xfrm>
          <a:prstGeom prst="chevron">
            <a:avLst/>
          </a:prstGeom>
          <a:solidFill>
            <a:srgbClr val="D7E5DF"/>
          </a:solidFill>
          <a:ln w="12700">
            <a:solidFill>
              <a:srgbClr val="D7E5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91072" y="1901952"/>
            <a:ext cx="1536192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76F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4224" y="2212848"/>
            <a:ext cx="13898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6F2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SQS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64224" y="2487168"/>
            <a:ext cx="1389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隔離與重試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900416" y="2340864"/>
            <a:ext cx="182880" cy="182880"/>
          </a:xfrm>
          <a:prstGeom prst="chevron">
            <a:avLst/>
          </a:prstGeom>
          <a:solidFill>
            <a:srgbClr val="D7E5DF"/>
          </a:solidFill>
          <a:ln w="12700">
            <a:solidFill>
              <a:srgbClr val="D7E5D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11312" y="1901952"/>
            <a:ext cx="1536192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84464" y="2212848"/>
            <a:ext cx="13898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Import Worker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84464" y="2487168"/>
            <a:ext cx="1389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建立 PO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9820656" y="2340864"/>
            <a:ext cx="182880" cy="182880"/>
          </a:xfrm>
          <a:prstGeom prst="chevron">
            <a:avLst/>
          </a:prstGeom>
          <a:solidFill>
            <a:srgbClr val="D7E5DF"/>
          </a:solidFill>
          <a:ln w="12700">
            <a:solidFill>
              <a:srgbClr val="D7E5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131552" y="1901952"/>
            <a:ext cx="1536192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4474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204704" y="2212848"/>
            <a:ext cx="13898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474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DLQ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204704" y="2487168"/>
            <a:ext cx="1389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連續失敗保留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822960" y="3858768"/>
            <a:ext cx="10332720" cy="1143000"/>
          </a:xfrm>
          <a:prstGeom prst="roundRect">
            <a:avLst>
              <a:gd name="adj" fmla="val 4800"/>
            </a:avLst>
          </a:prstGeom>
          <a:solidFill>
            <a:srgbClr val="DFF3EC"/>
          </a:solidFill>
          <a:ln w="8890">
            <a:solidFill>
              <a:srgbClr val="B9DE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24712" y="416052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Excel 必要欄位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606040" y="4169664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po_id · supplier_name · expected_date · material_id · material_name · ordered_quantity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124712" y="4553712"/>
            <a:ext cx="8961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unit 為選填；重複相同 PO 定義會略過，避免批次重送造成重複建立。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85216" y="6437376"/>
            <a:ext cx="10991088" cy="0"/>
          </a:xfrm>
          <a:prstGeom prst="line">
            <a:avLst/>
          </a:prstGeom>
          <a:noFill/>
          <a:ln w="8890">
            <a:solidFill>
              <a:srgbClr val="D7E5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6547104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Portfolio Project · FastAPI · AWS Lambda · DynamoDB · Terraform</a:t>
            </a:r>
            <a:endParaRPr lang="en-US" sz="71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spc="120" kern="0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AWS SERVERLESS ERP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585216" y="530352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API 設計與可擴展查詢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v2 API 提供受限制的 cursor pagination 與篩選；避免資料量成長後 dashboard 靜默漏資料。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36576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444752"/>
            <a:ext cx="5074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627632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GET /health · /ready</a:t>
            </a:r>
            <a:endParaRPr lang="en-US" sz="940" dirty="0"/>
          </a:p>
        </p:txBody>
      </p:sp>
      <p:sp>
        <p:nvSpPr>
          <p:cNvPr id="9" name="Text 7"/>
          <p:cNvSpPr/>
          <p:nvPr/>
        </p:nvSpPr>
        <p:spPr>
          <a:xfrm>
            <a:off x="3904488" y="1627632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7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Liveness / DynamoDB readiness</a:t>
            </a:r>
            <a:endParaRPr lang="en-US" sz="770" dirty="0"/>
          </a:p>
        </p:txBody>
      </p:sp>
      <p:sp>
        <p:nvSpPr>
          <p:cNvPr id="10" name="Shape 8"/>
          <p:cNvSpPr/>
          <p:nvPr/>
        </p:nvSpPr>
        <p:spPr>
          <a:xfrm>
            <a:off x="6190488" y="1444752"/>
            <a:ext cx="5074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9088" y="1627632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GET /api/dashboard</a:t>
            </a:r>
            <a:endParaRPr lang="en-US" sz="940" dirty="0"/>
          </a:p>
        </p:txBody>
      </p:sp>
      <p:sp>
        <p:nvSpPr>
          <p:cNvPr id="12" name="Text 10"/>
          <p:cNvSpPr/>
          <p:nvPr/>
        </p:nvSpPr>
        <p:spPr>
          <a:xfrm>
            <a:off x="9436608" y="1627632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7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KPI：PO、收料、低庫存、隔離量</a:t>
            </a:r>
            <a:endParaRPr lang="en-US" sz="770" dirty="0"/>
          </a:p>
        </p:txBody>
      </p:sp>
      <p:sp>
        <p:nvSpPr>
          <p:cNvPr id="13" name="Shape 11"/>
          <p:cNvSpPr/>
          <p:nvPr/>
        </p:nvSpPr>
        <p:spPr>
          <a:xfrm>
            <a:off x="658368" y="2450592"/>
            <a:ext cx="5074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2633472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GET /api/v2/purchase-orders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3904488" y="2633472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7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status / supplier + cursor</a:t>
            </a:r>
            <a:endParaRPr lang="en-US" sz="770" dirty="0"/>
          </a:p>
        </p:txBody>
      </p:sp>
      <p:sp>
        <p:nvSpPr>
          <p:cNvPr id="16" name="Shape 14"/>
          <p:cNvSpPr/>
          <p:nvPr/>
        </p:nvSpPr>
        <p:spPr>
          <a:xfrm>
            <a:off x="6190488" y="2450592"/>
            <a:ext cx="5074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9088" y="2633472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GET /api/v2/inventory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9436608" y="2633472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7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material_id / low_stock + cursor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658368" y="3456432"/>
            <a:ext cx="5074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" y="3639312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GET /api/v2/inventory-transactions</a:t>
            </a:r>
            <a:endParaRPr lang="en-US" sz="940" dirty="0"/>
          </a:p>
        </p:txBody>
      </p:sp>
      <p:sp>
        <p:nvSpPr>
          <p:cNvPr id="21" name="Text 19"/>
          <p:cNvSpPr/>
          <p:nvPr/>
        </p:nvSpPr>
        <p:spPr>
          <a:xfrm>
            <a:off x="3904488" y="3639312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7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material_id / type + cursor</a:t>
            </a:r>
            <a:endParaRPr lang="en-US" sz="770" dirty="0"/>
          </a:p>
        </p:txBody>
      </p:sp>
      <p:sp>
        <p:nvSpPr>
          <p:cNvPr id="22" name="Shape 20"/>
          <p:cNvSpPr/>
          <p:nvPr/>
        </p:nvSpPr>
        <p:spPr>
          <a:xfrm>
            <a:off x="6190488" y="3456432"/>
            <a:ext cx="5074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19088" y="3639312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POST mutation APIs</a:t>
            </a:r>
            <a:endParaRPr lang="en-US" sz="940" dirty="0"/>
          </a:p>
        </p:txBody>
      </p:sp>
      <p:sp>
        <p:nvSpPr>
          <p:cNvPr id="24" name="Text 22"/>
          <p:cNvSpPr/>
          <p:nvPr/>
        </p:nvSpPr>
        <p:spPr>
          <a:xfrm>
            <a:off x="9436608" y="3639312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7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PO、receipt、resolution、adjustment、upload URL</a:t>
            </a:r>
            <a:endParaRPr lang="en-US" sz="770" dirty="0"/>
          </a:p>
        </p:txBody>
      </p:sp>
      <p:sp>
        <p:nvSpPr>
          <p:cNvPr id="25" name="Shape 23"/>
          <p:cNvSpPr/>
          <p:nvPr/>
        </p:nvSpPr>
        <p:spPr>
          <a:xfrm>
            <a:off x="658368" y="4846320"/>
            <a:ext cx="10607040" cy="548640"/>
          </a:xfrm>
          <a:prstGeom prst="roundRect">
            <a:avLst>
              <a:gd name="adj" fmla="val 10000"/>
            </a:avLst>
          </a:prstGeom>
          <a:solidFill>
            <a:srgbClr val="FFF1DF"/>
          </a:solidFill>
          <a:ln w="8890">
            <a:solidFill>
              <a:srgbClr val="E7C59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504748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C76F2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Cursor 設計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029968" y="5047488"/>
            <a:ext cx="8686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cursor 為 opaque token 並綁定當次 filter；將 cursor 拿去不同條件查詢時回 400，防止資料跳頁。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585216" y="6437376"/>
            <a:ext cx="10991088" cy="0"/>
          </a:xfrm>
          <a:prstGeom prst="line">
            <a:avLst/>
          </a:prstGeom>
          <a:noFill/>
          <a:ln w="8890">
            <a:solidFill>
              <a:srgbClr val="D7E5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6547104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Portfolio Project · FastAPI · AWS Lambda · DynamoDB · Terraform</a:t>
            </a:r>
            <a:endParaRPr lang="en-US" sz="71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E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spc="120" kern="0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AWS SERVERLESS ERP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585216" y="530352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品質保證與可觀測性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測試、request correlation 與 health/readiness endpoint 讓流程可驗證也可維運。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36576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21792" y="1572768"/>
            <a:ext cx="3456432" cy="3566160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9385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8A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測試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05256" y="2624328"/>
            <a:ext cx="100584" cy="100584"/>
          </a:xfrm>
          <a:prstGeom prst="ellipse">
            <a:avLst/>
          </a:prstGeom>
          <a:solidFill>
            <a:srgbClr val="1B8A61"/>
          </a:solidFill>
          <a:ln w="12700">
            <a:solidFill>
              <a:srgbClr val="1B8A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578608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API regression test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05256" y="3054096"/>
            <a:ext cx="100584" cy="100584"/>
          </a:xfrm>
          <a:prstGeom prst="ellipse">
            <a:avLst/>
          </a:prstGeom>
          <a:solidFill>
            <a:srgbClr val="1B8A61"/>
          </a:solidFill>
          <a:ln w="12700">
            <a:solidFill>
              <a:srgbClr val="1B8A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300837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收料狀態轉移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05256" y="3483864"/>
            <a:ext cx="100584" cy="100584"/>
          </a:xfrm>
          <a:prstGeom prst="ellipse">
            <a:avLst/>
          </a:prstGeom>
          <a:solidFill>
            <a:srgbClr val="1B8A61"/>
          </a:solidFill>
          <a:ln w="12700">
            <a:solidFill>
              <a:srgbClr val="1B8A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3438144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idempotency / concurrency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05256" y="3913632"/>
            <a:ext cx="100584" cy="100584"/>
          </a:xfrm>
          <a:prstGeom prst="ellipse">
            <a:avLst/>
          </a:prstGeom>
          <a:solidFill>
            <a:srgbClr val="1B8A61"/>
          </a:solidFill>
          <a:ln w="12700">
            <a:solidFill>
              <a:srgbClr val="1B8A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3867912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異常與庫存帳本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443984" y="1572768"/>
            <a:ext cx="3456432" cy="3566160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9385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可觀測性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727448" y="2624328"/>
            <a:ext cx="100584" cy="100584"/>
          </a:xfrm>
          <a:prstGeom prst="ellipse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578608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X-Request-Id middleware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27448" y="3054096"/>
            <a:ext cx="100584" cy="100584"/>
          </a:xfrm>
          <a:prstGeom prst="ellipse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00837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一致的 4xx / 5xx API 回應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27448" y="3483864"/>
            <a:ext cx="100584" cy="100584"/>
          </a:xfrm>
          <a:prstGeom prst="ellipse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3438144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/health 與 /ready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27448" y="3913632"/>
            <a:ext cx="100584" cy="100584"/>
          </a:xfrm>
          <a:prstGeom prst="ellipse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867912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CloudWatch logs / alarms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266176" y="1572768"/>
            <a:ext cx="3456432" cy="3566160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40496" y="19385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C76F2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部署防護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549640" y="2624328"/>
            <a:ext cx="100584" cy="100584"/>
          </a:xfrm>
          <a:prstGeom prst="ellipse">
            <a:avLst/>
          </a:prstGeom>
          <a:solidFill>
            <a:srgbClr val="C76F22"/>
          </a:solidFill>
          <a:ln w="12700">
            <a:solidFill>
              <a:srgbClr val="C76F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59952" y="2578608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Terraform fmt / validate / plan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549640" y="3054096"/>
            <a:ext cx="100584" cy="100584"/>
          </a:xfrm>
          <a:prstGeom prst="ellipse">
            <a:avLst/>
          </a:prstGeom>
          <a:solidFill>
            <a:srgbClr val="C76F22"/>
          </a:solidFill>
          <a:ln w="12700">
            <a:solidFill>
              <a:srgbClr val="C76F2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59952" y="300837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 destroy plan 檢查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549640" y="3483864"/>
            <a:ext cx="100584" cy="100584"/>
          </a:xfrm>
          <a:prstGeom prst="ellipse">
            <a:avLst/>
          </a:prstGeom>
          <a:solidFill>
            <a:srgbClr val="C76F22"/>
          </a:solidFill>
          <a:ln w="12700">
            <a:solidFill>
              <a:srgbClr val="C76F2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59952" y="3438144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Lambda ZIP build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549640" y="3913632"/>
            <a:ext cx="100584" cy="100584"/>
          </a:xfrm>
          <a:prstGeom prst="ellipse">
            <a:avLst/>
          </a:prstGeom>
          <a:solidFill>
            <a:srgbClr val="C76F22"/>
          </a:solidFill>
          <a:ln w="12700">
            <a:solidFill>
              <a:srgbClr val="C76F2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59952" y="3867912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部署後 OpenAPI / UI GET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58368" y="553212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7584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品質不是測試通過而已：部署流程必須能證明它沒有意外刪除或重建持久化 ERP 資料。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85216" y="6437376"/>
            <a:ext cx="10991088" cy="0"/>
          </a:xfrm>
          <a:prstGeom prst="line">
            <a:avLst/>
          </a:prstGeom>
          <a:noFill/>
          <a:ln w="8890">
            <a:solidFill>
              <a:srgbClr val="D7E5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6547104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Portfolio Project · FastAPI · AWS Lambda · DynamoDB · Terraform</a:t>
            </a:r>
            <a:endParaRPr lang="en-US" sz="71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E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spc="120" kern="0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AWS SERVERLESS ERP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585216" y="530352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成本控制與部署原則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Demo 專案優先使用按量計費、最小規格與可清理的 AWS 資源。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36576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536192"/>
            <a:ext cx="5074920" cy="133502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536192"/>
            <a:ext cx="91440" cy="1335024"/>
          </a:xfrm>
          <a:prstGeom prst="rect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181965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Lambda ZIP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78408" y="2203704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Python 3.12 · x86_64 · 512 MB · 30 sec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避免容器映像與 ECR 維運成本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6190488" y="1536192"/>
            <a:ext cx="5074920" cy="133502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90488" y="1536192"/>
            <a:ext cx="91440" cy="1335024"/>
          </a:xfrm>
          <a:prstGeom prst="rect">
            <a:avLst/>
          </a:prstGeom>
          <a:solidFill>
            <a:srgbClr val="1B8A61"/>
          </a:solidFill>
          <a:ln w="12700">
            <a:solidFill>
              <a:srgbClr val="1B8A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0528" y="181965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8A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DynamoDB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10528" y="2203704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PAY_PER_REQUEST · TTL · 可選 PITR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只在實際讀寫時產生成本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658368" y="3364992"/>
            <a:ext cx="5074920" cy="133502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3364992"/>
            <a:ext cx="91440" cy="1335024"/>
          </a:xfrm>
          <a:prstGeom prst="rect">
            <a:avLst/>
          </a:prstGeom>
          <a:solidFill>
            <a:srgbClr val="C76F22"/>
          </a:solidFill>
          <a:ln w="12700">
            <a:solidFill>
              <a:srgbClr val="C76F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364845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C76F2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Logs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78408" y="4032504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CloudWatch retention 預設 1 天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避免 Demo 長期累積日誌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6190488" y="3364992"/>
            <a:ext cx="5074920" cy="133502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0488" y="3364992"/>
            <a:ext cx="91440" cy="1335024"/>
          </a:xfrm>
          <a:prstGeom prst="rect">
            <a:avLst/>
          </a:prstGeom>
          <a:solidFill>
            <a:srgbClr val="C44743"/>
          </a:solidFill>
          <a:ln w="12700">
            <a:solidFill>
              <a:srgbClr val="C4474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0528" y="364845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C4474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Terraform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10528" y="4032504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plan 先確認 0 destroy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Demo 完成可明確 terraform destroy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58368" y="5330952"/>
            <a:ext cx="10607040" cy="411480"/>
          </a:xfrm>
          <a:prstGeom prst="roundRect">
            <a:avLst>
              <a:gd name="adj" fmla="val 13333"/>
            </a:avLst>
          </a:prstGeom>
          <a:solidFill>
            <a:srgbClr val="FCE8E5"/>
          </a:solidFill>
          <a:ln w="7620">
            <a:solidFill>
              <a:srgbClr val="E8BBB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1832" y="5477256"/>
            <a:ext cx="9921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C4474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限制：不要加入 AWS Organizations 以追求免費額度；先建立 AWS Budget 警示，再進行 Demo 部署。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585216" y="6437376"/>
            <a:ext cx="10991088" cy="0"/>
          </a:xfrm>
          <a:prstGeom prst="line">
            <a:avLst/>
          </a:prstGeom>
          <a:noFill/>
          <a:ln w="8890">
            <a:solidFill>
              <a:srgbClr val="D7E5D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6547104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Portfolio Project · FastAPI · AWS Lambda · DynamoDB · Terraform</a:t>
            </a:r>
            <a:endParaRPr lang="en-US" sz="71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E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spc="120" kern="0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AWS SERVERLESS ERP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585216" y="530352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建議 Demo 腳本：5 分鐘展示完整異常閉環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以一張 100 pcs PO 為例，展示前端操作與後端資料控制。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36576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68680" y="1435608"/>
            <a:ext cx="310896" cy="310896"/>
          </a:xfrm>
          <a:prstGeom prst="ellipse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1536192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620" dirty="0"/>
          </a:p>
        </p:txBody>
      </p:sp>
      <p:sp>
        <p:nvSpPr>
          <p:cNvPr id="9" name="Text 7"/>
          <p:cNvSpPr/>
          <p:nvPr/>
        </p:nvSpPr>
        <p:spPr>
          <a:xfrm>
            <a:off x="1463040" y="139903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登入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127248" y="1399032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貼上 Cognito ID Token，確認 warehouse / purchaser / approver 角色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10104120" y="1380744"/>
            <a:ext cx="1024128" cy="274320"/>
          </a:xfrm>
          <a:prstGeom prst="roundRect">
            <a:avLst>
              <a:gd name="adj" fmla="val 40000"/>
            </a:avLst>
          </a:prstGeom>
          <a:solidFill>
            <a:srgbClr val="DFF3EC"/>
          </a:solidFill>
          <a:ln w="12700">
            <a:solidFill>
              <a:srgbClr val="DFF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104120" y="1453896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操作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868680" y="2157984"/>
            <a:ext cx="310896" cy="310896"/>
          </a:xfrm>
          <a:prstGeom prst="ellipse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2258568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620" dirty="0"/>
          </a:p>
        </p:txBody>
      </p:sp>
      <p:sp>
        <p:nvSpPr>
          <p:cNvPr id="15" name="Text 13"/>
          <p:cNvSpPr/>
          <p:nvPr/>
        </p:nvSpPr>
        <p:spPr>
          <a:xfrm>
            <a:off x="1463040" y="212140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建立 PO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127248" y="2121408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建立 100 pcs Demo PO，進入待驗收工作佇列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10104120" y="2103120"/>
            <a:ext cx="1024128" cy="274320"/>
          </a:xfrm>
          <a:prstGeom prst="roundRect">
            <a:avLst>
              <a:gd name="adj" fmla="val 40000"/>
            </a:avLst>
          </a:prstGeom>
          <a:solidFill>
            <a:srgbClr val="DFF3EC"/>
          </a:solidFill>
          <a:ln w="12700">
            <a:solidFill>
              <a:srgbClr val="DFF3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04120" y="2176272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操作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868680" y="2880360"/>
            <a:ext cx="310896" cy="310896"/>
          </a:xfrm>
          <a:prstGeom prst="ellipse">
            <a:avLst/>
          </a:prstGeom>
          <a:solidFill>
            <a:srgbClr val="C76F22"/>
          </a:solidFill>
          <a:ln w="12700">
            <a:solidFill>
              <a:srgbClr val="C76F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" y="2980944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620" dirty="0"/>
          </a:p>
        </p:txBody>
      </p:sp>
      <p:sp>
        <p:nvSpPr>
          <p:cNvPr id="21" name="Text 19"/>
          <p:cNvSpPr/>
          <p:nvPr/>
        </p:nvSpPr>
        <p:spPr>
          <a:xfrm>
            <a:off x="1463040" y="284378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部分收料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127248" y="2843784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輸入 80 pcs，PO -&gt; 待處理異常，庫存與 Ledger +80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10104120" y="2825496"/>
            <a:ext cx="1024128" cy="274320"/>
          </a:xfrm>
          <a:prstGeom prst="roundRect">
            <a:avLst>
              <a:gd name="adj" fmla="val 40000"/>
            </a:avLst>
          </a:prstGeom>
          <a:solidFill>
            <a:srgbClr val="FFF1DF"/>
          </a:solidFill>
          <a:ln w="12700">
            <a:solidFill>
              <a:srgbClr val="FFF1D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04120" y="2898648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C76F2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異常流程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868680" y="3602736"/>
            <a:ext cx="310896" cy="310896"/>
          </a:xfrm>
          <a:prstGeom prst="ellipse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0976" y="3703320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</a:t>
            </a:r>
            <a:endParaRPr lang="en-US" sz="620" dirty="0"/>
          </a:p>
        </p:txBody>
      </p:sp>
      <p:sp>
        <p:nvSpPr>
          <p:cNvPr id="27" name="Text 25"/>
          <p:cNvSpPr/>
          <p:nvPr/>
        </p:nvSpPr>
        <p:spPr>
          <a:xfrm>
            <a:off x="1463040" y="356616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處置補貨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127248" y="3566160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approver 選補貨，填寫供應商承諾；PO -&gt; 待補貨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10104120" y="3547872"/>
            <a:ext cx="1024128" cy="274320"/>
          </a:xfrm>
          <a:prstGeom prst="roundRect">
            <a:avLst>
              <a:gd name="adj" fmla="val 40000"/>
            </a:avLst>
          </a:prstGeom>
          <a:solidFill>
            <a:srgbClr val="DFF3EC"/>
          </a:solidFill>
          <a:ln w="12700">
            <a:solidFill>
              <a:srgbClr val="DFF3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04120" y="3621024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操作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868680" y="4325112"/>
            <a:ext cx="310896" cy="310896"/>
          </a:xfrm>
          <a:prstGeom prst="ellipse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0976" y="4425696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</a:t>
            </a:r>
            <a:endParaRPr lang="en-US" sz="620" dirty="0"/>
          </a:p>
        </p:txBody>
      </p:sp>
      <p:sp>
        <p:nvSpPr>
          <p:cNvPr id="33" name="Text 31"/>
          <p:cNvSpPr/>
          <p:nvPr/>
        </p:nvSpPr>
        <p:spPr>
          <a:xfrm>
            <a:off x="1463040" y="428853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補收 20 pcs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127248" y="4288536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表單顯示剩餘待收，完成後 PO -&gt; 已完成，Ledger +20</a:t>
            </a:r>
            <a:endParaRPr lang="en-US" sz="940" dirty="0"/>
          </a:p>
        </p:txBody>
      </p:sp>
      <p:sp>
        <p:nvSpPr>
          <p:cNvPr id="35" name="Shape 33"/>
          <p:cNvSpPr/>
          <p:nvPr/>
        </p:nvSpPr>
        <p:spPr>
          <a:xfrm>
            <a:off x="10104120" y="4270248"/>
            <a:ext cx="1024128" cy="274320"/>
          </a:xfrm>
          <a:prstGeom prst="roundRect">
            <a:avLst>
              <a:gd name="adj" fmla="val 40000"/>
            </a:avLst>
          </a:prstGeom>
          <a:solidFill>
            <a:srgbClr val="DFF3EC"/>
          </a:solidFill>
          <a:ln w="12700">
            <a:solidFill>
              <a:srgbClr val="DFF3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104120" y="4343400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操作</a:t>
            </a:r>
            <a:endParaRPr lang="en-US" sz="720" dirty="0"/>
          </a:p>
        </p:txBody>
      </p:sp>
      <p:sp>
        <p:nvSpPr>
          <p:cNvPr id="37" name="Shape 35"/>
          <p:cNvSpPr/>
          <p:nvPr/>
        </p:nvSpPr>
        <p:spPr>
          <a:xfrm>
            <a:off x="868680" y="5047488"/>
            <a:ext cx="310896" cy="310896"/>
          </a:xfrm>
          <a:prstGeom prst="ellipse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50976" y="5148072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</a:t>
            </a:r>
            <a:endParaRPr lang="en-US" sz="620" dirty="0"/>
          </a:p>
        </p:txBody>
      </p:sp>
      <p:sp>
        <p:nvSpPr>
          <p:cNvPr id="39" name="Text 37"/>
          <p:cNvSpPr/>
          <p:nvPr/>
        </p:nvSpPr>
        <p:spPr>
          <a:xfrm>
            <a:off x="1463040" y="501091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驗證控制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127248" y="5010912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重送相同 idempotency request 不重複入帳；查看帳本與 alert</a:t>
            </a:r>
            <a:endParaRPr lang="en-US" sz="940" dirty="0"/>
          </a:p>
        </p:txBody>
      </p:sp>
      <p:sp>
        <p:nvSpPr>
          <p:cNvPr id="41" name="Shape 39"/>
          <p:cNvSpPr/>
          <p:nvPr/>
        </p:nvSpPr>
        <p:spPr>
          <a:xfrm>
            <a:off x="10104120" y="4992624"/>
            <a:ext cx="1024128" cy="274320"/>
          </a:xfrm>
          <a:prstGeom prst="roundRect">
            <a:avLst>
              <a:gd name="adj" fmla="val 40000"/>
            </a:avLst>
          </a:prstGeom>
          <a:solidFill>
            <a:srgbClr val="DFF3EC"/>
          </a:solidFill>
          <a:ln w="12700">
            <a:solidFill>
              <a:srgbClr val="DFF3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104120" y="5065776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稽核證明</a:t>
            </a:r>
            <a:endParaRPr lang="en-US" sz="720" dirty="0"/>
          </a:p>
        </p:txBody>
      </p:sp>
      <p:sp>
        <p:nvSpPr>
          <p:cNvPr id="43" name="Shape 41"/>
          <p:cNvSpPr/>
          <p:nvPr/>
        </p:nvSpPr>
        <p:spPr>
          <a:xfrm>
            <a:off x="585216" y="6437376"/>
            <a:ext cx="10991088" cy="0"/>
          </a:xfrm>
          <a:prstGeom prst="line">
            <a:avLst/>
          </a:prstGeom>
          <a:noFill/>
          <a:ln w="8890">
            <a:solidFill>
              <a:srgbClr val="D7E5D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" y="6547104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Portfolio Project · FastAPI · AWS Lambda · DynamoDB · Terraform</a:t>
            </a:r>
            <a:endParaRPr lang="en-US" sz="71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E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spc="120" kern="0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AWS SERVERLESS ERP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585216" y="530352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Roadmap 與履歷價值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下一步將收料 MVP 往完整採購、品質與應付帳款流程延伸。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36576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21792" y="1463040"/>
            <a:ext cx="3456432" cy="3035808"/>
          </a:xfrm>
          <a:prstGeom prst="roundRect">
            <a:avLst>
              <a:gd name="adj" fmla="val 1807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463040"/>
            <a:ext cx="3456432" cy="109728"/>
          </a:xfrm>
          <a:prstGeom prst="rect">
            <a:avLst/>
          </a:prstGeom>
          <a:solidFill>
            <a:srgbClr val="1B8A61"/>
          </a:solidFill>
          <a:ln w="12700">
            <a:solidFill>
              <a:srgbClr val="1B8A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82880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8A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已完成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05256" y="2468880"/>
            <a:ext cx="100584" cy="100584"/>
          </a:xfrm>
          <a:prstGeom prst="ellipse">
            <a:avLst/>
          </a:prstGeom>
          <a:solidFill>
            <a:srgbClr val="1B8A61"/>
          </a:solidFill>
          <a:ln w="12700">
            <a:solidFill>
              <a:srgbClr val="1B8A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2423160"/>
            <a:ext cx="2551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Serverless ERP 收料與異常閉環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905256" y="2898648"/>
            <a:ext cx="100584" cy="100584"/>
          </a:xfrm>
          <a:prstGeom prst="ellipse">
            <a:avLst/>
          </a:prstGeom>
          <a:solidFill>
            <a:srgbClr val="1B8A61"/>
          </a:solidFill>
          <a:ln w="12700">
            <a:solidFill>
              <a:srgbClr val="1B8A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5568" y="2852928"/>
            <a:ext cx="2551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RBAC、MCP approval gate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905256" y="3328416"/>
            <a:ext cx="100584" cy="100584"/>
          </a:xfrm>
          <a:prstGeom prst="ellipse">
            <a:avLst/>
          </a:prstGeom>
          <a:solidFill>
            <a:srgbClr val="1B8A61"/>
          </a:solidFill>
          <a:ln w="12700">
            <a:solidFill>
              <a:srgbClr val="1B8A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3282696"/>
            <a:ext cx="2551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Outbox、帳本、匯入、分頁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443984" y="1463040"/>
            <a:ext cx="3456432" cy="3035808"/>
          </a:xfrm>
          <a:prstGeom prst="roundRect">
            <a:avLst>
              <a:gd name="adj" fmla="val 1807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43984" y="1463040"/>
            <a:ext cx="3456432" cy="109728"/>
          </a:xfrm>
          <a:prstGeom prst="rect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82880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87F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下一個里程碑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727448" y="2468880"/>
            <a:ext cx="100584" cy="100584"/>
          </a:xfrm>
          <a:prstGeom prst="ellipse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423160"/>
            <a:ext cx="2551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Quality Inspection 與不合格隔離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4727448" y="2898648"/>
            <a:ext cx="100584" cy="100584"/>
          </a:xfrm>
          <a:prstGeom prst="ellipse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852928"/>
            <a:ext cx="2551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Return to Vendor 退貨流程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4727448" y="3328416"/>
            <a:ext cx="100584" cy="100584"/>
          </a:xfrm>
          <a:prstGeom prst="ellipse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3282696"/>
            <a:ext cx="2551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Supplier / Material Master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8266176" y="1463040"/>
            <a:ext cx="3456432" cy="3035808"/>
          </a:xfrm>
          <a:prstGeom prst="roundRect">
            <a:avLst>
              <a:gd name="adj" fmla="val 1807"/>
            </a:avLst>
          </a:prstGeom>
          <a:solidFill>
            <a:srgbClr val="FFFFFF"/>
          </a:solidFill>
          <a:ln w="8890">
            <a:solidFill>
              <a:srgbClr val="D7E5D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66176" y="1463040"/>
            <a:ext cx="3456432" cy="109728"/>
          </a:xfrm>
          <a:prstGeom prst="rect">
            <a:avLst/>
          </a:prstGeom>
          <a:solidFill>
            <a:srgbClr val="C76F22"/>
          </a:solidFill>
          <a:ln w="12700">
            <a:solidFill>
              <a:srgbClr val="C76F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40496" y="182880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C76F2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企業級延伸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549640" y="2468880"/>
            <a:ext cx="100584" cy="100584"/>
          </a:xfrm>
          <a:prstGeom prst="ellipse">
            <a:avLst/>
          </a:prstGeom>
          <a:solidFill>
            <a:srgbClr val="C76F22"/>
          </a:solidFill>
          <a:ln w="12700">
            <a:solidFill>
              <a:srgbClr val="C76F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59952" y="2423160"/>
            <a:ext cx="2551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GRN / PO / Invoice 三方匹配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8549640" y="2898648"/>
            <a:ext cx="100584" cy="100584"/>
          </a:xfrm>
          <a:prstGeom prst="ellipse">
            <a:avLst/>
          </a:prstGeom>
          <a:solidFill>
            <a:srgbClr val="C76F22"/>
          </a:solidFill>
          <a:ln w="12700">
            <a:solidFill>
              <a:srgbClr val="C76F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59952" y="2852928"/>
            <a:ext cx="2551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應付帳款與付款整合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8549640" y="3328416"/>
            <a:ext cx="100584" cy="100584"/>
          </a:xfrm>
          <a:prstGeom prst="ellipse">
            <a:avLst/>
          </a:prstGeom>
          <a:solidFill>
            <a:srgbClr val="C76F22"/>
          </a:solidFill>
          <a:ln w="12700">
            <a:solidFill>
              <a:srgbClr val="C76F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59952" y="3282696"/>
            <a:ext cx="2551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02F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自訂網域、CDN、WAF 與 BI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621792" y="4983480"/>
            <a:ext cx="10972800" cy="594360"/>
          </a:xfrm>
          <a:prstGeom prst="roundRect">
            <a:avLst>
              <a:gd name="adj" fmla="val 9231"/>
            </a:avLst>
          </a:prstGeom>
          <a:solidFill>
            <a:srgbClr val="07584F"/>
          </a:solidFill>
          <a:ln w="12700">
            <a:solidFill>
              <a:srgbClr val="07584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6112" y="5193792"/>
            <a:ext cx="10424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履歷敘述：Designed and deployed an AWS serverless ERP receiving and exception-management module with FastAPI, API Gateway, Lambda, DynamoDB transactions, Cognito RBAC, SNS outbox retry, Terraform, and approval-gated MCP tools.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585216" y="6437376"/>
            <a:ext cx="10991088" cy="0"/>
          </a:xfrm>
          <a:prstGeom prst="line">
            <a:avLst/>
          </a:prstGeom>
          <a:noFill/>
          <a:ln w="8890">
            <a:solidFill>
              <a:srgbClr val="D7E5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6547104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078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AWS Serverless ERP · Procurement, Receiving &amp; Exception Management</a:t>
            </a:r>
            <a:endParaRPr lang="en-US" sz="7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Portfolio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Serverless ERP 完整專案簡報</dc:title>
  <dc:subject>AWS Serverless ERP Procurement, Receiving and Exception Management</dc:subject>
  <dc:creator>AWS Serverless ERP</dc:creator>
  <cp:lastModifiedBy>AWS Serverless ERP</cp:lastModifiedBy>
  <cp:revision>1</cp:revision>
  <dcterms:created xsi:type="dcterms:W3CDTF">2026-09-13T07:02:13Z</dcterms:created>
  <dcterms:modified xsi:type="dcterms:W3CDTF">2026-09-13T07:02:13Z</dcterms:modified>
</cp:coreProperties>
</file>